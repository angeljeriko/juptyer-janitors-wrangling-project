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82" r:id="rId3"/>
    <p:sldId id="285" r:id="rId4"/>
    <p:sldId id="284" r:id="rId5"/>
    <p:sldId id="28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21B6BB-9682-394A-9D48-B8309197A16E}" v="3" dt="2026-03-29T19:56:54.6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01"/>
  </p:normalViewPr>
  <p:slideViewPr>
    <p:cSldViewPr snapToGrid="0" snapToObjects="1">
      <p:cViewPr varScale="1">
        <p:scale>
          <a:sx n="78" d="100"/>
          <a:sy n="78" d="100"/>
        </p:scale>
        <p:origin x="29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Adams" userId="40fcd0ee-da79-4ab8-b65a-218caf4d6df0" providerId="ADAL" clId="{3C717BEB-AD60-5CF5-A14A-C851A272BA49}"/>
    <pc:docChg chg="custSel addSld modSld">
      <pc:chgData name="Brian Adams" userId="40fcd0ee-da79-4ab8-b65a-218caf4d6df0" providerId="ADAL" clId="{3C717BEB-AD60-5CF5-A14A-C851A272BA49}" dt="2026-03-29T19:58:44.668" v="230" actId="1035"/>
      <pc:docMkLst>
        <pc:docMk/>
      </pc:docMkLst>
      <pc:sldChg chg="addSp delSp modSp mod">
        <pc:chgData name="Brian Adams" userId="40fcd0ee-da79-4ab8-b65a-218caf4d6df0" providerId="ADAL" clId="{3C717BEB-AD60-5CF5-A14A-C851A272BA49}" dt="2026-03-29T19:57:54.376" v="192" actId="478"/>
        <pc:sldMkLst>
          <pc:docMk/>
          <pc:sldMk cId="0" sldId="256"/>
        </pc:sldMkLst>
        <pc:spChg chg="mod">
          <ac:chgData name="Brian Adams" userId="40fcd0ee-da79-4ab8-b65a-218caf4d6df0" providerId="ADAL" clId="{3C717BEB-AD60-5CF5-A14A-C851A272BA49}" dt="2026-03-29T19:57:43.549" v="191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Brian Adams" userId="40fcd0ee-da79-4ab8-b65a-218caf4d6df0" providerId="ADAL" clId="{3C717BEB-AD60-5CF5-A14A-C851A272BA49}" dt="2026-03-29T19:57:12.190" v="148" actId="403"/>
          <ac:spMkLst>
            <pc:docMk/>
            <pc:sldMk cId="0" sldId="256"/>
            <ac:spMk id="7" creationId="{00000000-0000-0000-0000-000000000000}"/>
          </ac:spMkLst>
        </pc:spChg>
        <pc:spChg chg="del">
          <ac:chgData name="Brian Adams" userId="40fcd0ee-da79-4ab8-b65a-218caf4d6df0" providerId="ADAL" clId="{3C717BEB-AD60-5CF5-A14A-C851A272BA49}" dt="2026-03-29T19:57:54.376" v="192" actId="478"/>
          <ac:spMkLst>
            <pc:docMk/>
            <pc:sldMk cId="0" sldId="256"/>
            <ac:spMk id="14" creationId="{00000000-0000-0000-0000-000000000000}"/>
          </ac:spMkLst>
        </pc:spChg>
        <pc:spChg chg="add mod">
          <ac:chgData name="Brian Adams" userId="40fcd0ee-da79-4ab8-b65a-218caf4d6df0" providerId="ADAL" clId="{3C717BEB-AD60-5CF5-A14A-C851A272BA49}" dt="2026-03-29T19:55:32.526" v="29" actId="1037"/>
          <ac:spMkLst>
            <pc:docMk/>
            <pc:sldMk cId="0" sldId="256"/>
            <ac:spMk id="15" creationId="{6EA52591-E280-3710-4616-7BB781AA2BFF}"/>
          </ac:spMkLst>
        </pc:spChg>
        <pc:spChg chg="add mod">
          <ac:chgData name="Brian Adams" userId="40fcd0ee-da79-4ab8-b65a-218caf4d6df0" providerId="ADAL" clId="{3C717BEB-AD60-5CF5-A14A-C851A272BA49}" dt="2026-03-29T19:55:42.464" v="50" actId="20577"/>
          <ac:spMkLst>
            <pc:docMk/>
            <pc:sldMk cId="0" sldId="256"/>
            <ac:spMk id="16" creationId="{B1E04B65-5595-A015-506E-1D9B5F60AF6C}"/>
          </ac:spMkLst>
        </pc:spChg>
      </pc:sldChg>
      <pc:sldChg chg="delSp modSp mod">
        <pc:chgData name="Brian Adams" userId="40fcd0ee-da79-4ab8-b65a-218caf4d6df0" providerId="ADAL" clId="{3C717BEB-AD60-5CF5-A14A-C851A272BA49}" dt="2026-03-29T19:58:44.668" v="230" actId="1035"/>
        <pc:sldMkLst>
          <pc:docMk/>
          <pc:sldMk cId="0" sldId="259"/>
        </pc:sldMkLst>
        <pc:spChg chg="mod">
          <ac:chgData name="Brian Adams" userId="40fcd0ee-da79-4ab8-b65a-218caf4d6df0" providerId="ADAL" clId="{3C717BEB-AD60-5CF5-A14A-C851A272BA49}" dt="2026-03-29T19:58:39.255" v="221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Brian Adams" userId="40fcd0ee-da79-4ab8-b65a-218caf4d6df0" providerId="ADAL" clId="{3C717BEB-AD60-5CF5-A14A-C851A272BA49}" dt="2026-03-29T19:58:44.668" v="230" actId="1035"/>
          <ac:spMkLst>
            <pc:docMk/>
            <pc:sldMk cId="0" sldId="259"/>
            <ac:spMk id="4" creationId="{00000000-0000-0000-0000-000000000000}"/>
          </ac:spMkLst>
        </pc:spChg>
        <pc:spChg chg="del">
          <ac:chgData name="Brian Adams" userId="40fcd0ee-da79-4ab8-b65a-218caf4d6df0" providerId="ADAL" clId="{3C717BEB-AD60-5CF5-A14A-C851A272BA49}" dt="2026-03-29T19:58:05.806" v="193" actId="478"/>
          <ac:spMkLst>
            <pc:docMk/>
            <pc:sldMk cId="0" sldId="259"/>
            <ac:spMk id="5" creationId="{00000000-0000-0000-0000-000000000000}"/>
          </ac:spMkLst>
        </pc:spChg>
      </pc:sldChg>
      <pc:sldChg chg="add">
        <pc:chgData name="Brian Adams" userId="40fcd0ee-da79-4ab8-b65a-218caf4d6df0" providerId="ADAL" clId="{3C717BEB-AD60-5CF5-A14A-C851A272BA49}" dt="2026-03-29T19:55:03.385" v="2"/>
        <pc:sldMkLst>
          <pc:docMk/>
          <pc:sldMk cId="0" sldId="272"/>
        </pc:sldMkLst>
      </pc:sldChg>
      <pc:sldChg chg="add">
        <pc:chgData name="Brian Adams" userId="40fcd0ee-da79-4ab8-b65a-218caf4d6df0" providerId="ADAL" clId="{3C717BEB-AD60-5CF5-A14A-C851A272BA49}" dt="2026-03-29T19:55:03.385" v="2"/>
        <pc:sldMkLst>
          <pc:docMk/>
          <pc:sldMk cId="0" sldId="273"/>
        </pc:sldMkLst>
      </pc:sldChg>
      <pc:sldChg chg="add">
        <pc:chgData name="Brian Adams" userId="40fcd0ee-da79-4ab8-b65a-218caf4d6df0" providerId="ADAL" clId="{3C717BEB-AD60-5CF5-A14A-C851A272BA49}" dt="2026-03-29T19:55:03.385" v="2"/>
        <pc:sldMkLst>
          <pc:docMk/>
          <pc:sldMk cId="0" sldId="274"/>
        </pc:sldMkLst>
      </pc:sldChg>
      <pc:sldChg chg="add">
        <pc:chgData name="Brian Adams" userId="40fcd0ee-da79-4ab8-b65a-218caf4d6df0" providerId="ADAL" clId="{3C717BEB-AD60-5CF5-A14A-C851A272BA49}" dt="2026-03-29T19:55:03.385" v="2"/>
        <pc:sldMkLst>
          <pc:docMk/>
          <pc:sldMk cId="0" sldId="275"/>
        </pc:sldMkLst>
      </pc:sldChg>
      <pc:sldChg chg="add">
        <pc:chgData name="Brian Adams" userId="40fcd0ee-da79-4ab8-b65a-218caf4d6df0" providerId="ADAL" clId="{3C717BEB-AD60-5CF5-A14A-C851A272BA49}" dt="2026-03-29T19:55:03.385" v="2"/>
        <pc:sldMkLst>
          <pc:docMk/>
          <pc:sldMk cId="0" sldId="276"/>
        </pc:sldMkLst>
      </pc:sldChg>
      <pc:sldChg chg="add">
        <pc:chgData name="Brian Adams" userId="40fcd0ee-da79-4ab8-b65a-218caf4d6df0" providerId="ADAL" clId="{3C717BEB-AD60-5CF5-A14A-C851A272BA49}" dt="2026-03-29T19:55:03.385" v="2"/>
        <pc:sldMkLst>
          <pc:docMk/>
          <pc:sldMk cId="0" sldId="277"/>
        </pc:sldMkLst>
      </pc:sldChg>
      <pc:sldChg chg="add">
        <pc:chgData name="Brian Adams" userId="40fcd0ee-da79-4ab8-b65a-218caf4d6df0" providerId="ADAL" clId="{3C717BEB-AD60-5CF5-A14A-C851A272BA49}" dt="2026-03-29T19:55:03.385" v="2"/>
        <pc:sldMkLst>
          <pc:docMk/>
          <pc:sldMk cId="0" sldId="278"/>
        </pc:sldMkLst>
      </pc:sldChg>
      <pc:sldChg chg="add">
        <pc:chgData name="Brian Adams" userId="40fcd0ee-da79-4ab8-b65a-218caf4d6df0" providerId="ADAL" clId="{3C717BEB-AD60-5CF5-A14A-C851A272BA49}" dt="2026-03-29T19:55:03.385" v="2"/>
        <pc:sldMkLst>
          <pc:docMk/>
          <pc:sldMk cId="0" sldId="279"/>
        </pc:sldMkLst>
      </pc:sldChg>
      <pc:sldChg chg="add">
        <pc:chgData name="Brian Adams" userId="40fcd0ee-da79-4ab8-b65a-218caf4d6df0" providerId="ADAL" clId="{3C717BEB-AD60-5CF5-A14A-C851A272BA49}" dt="2026-03-29T19:55:03.385" v="2"/>
        <pc:sldMkLst>
          <pc:docMk/>
          <pc:sldMk cId="0" sldId="280"/>
        </pc:sldMkLst>
      </pc:sldChg>
      <pc:sldChg chg="add">
        <pc:chgData name="Brian Adams" userId="40fcd0ee-da79-4ab8-b65a-218caf4d6df0" providerId="ADAL" clId="{3C717BEB-AD60-5CF5-A14A-C851A272BA49}" dt="2026-03-29T19:55:03.385" v="2"/>
        <pc:sldMkLst>
          <pc:docMk/>
          <pc:sldMk cId="0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60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320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406908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MIMIC-IV Cohort Construction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22860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7EE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BMI 6016 – Data Wrangling Semester Project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6517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Abby Chen, Brian Adams, Joe Dawson, Yannick Jones</a:t>
            </a:r>
          </a:p>
        </p:txBody>
      </p:sp>
      <p:sp>
        <p:nvSpPr>
          <p:cNvPr id="8" name="Shape 6"/>
          <p:cNvSpPr/>
          <p:nvPr/>
        </p:nvSpPr>
        <p:spPr>
          <a:xfrm>
            <a:off x="896112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15568" y="322783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MIMIC-IV is and why researchers use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96112" y="37216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15568" y="368503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load it in PostgreSQL and query it in BigQuery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6112" y="41788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15568" y="414223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SQL script builds a vascular surgery master cohort</a:t>
            </a:r>
            <a:endParaRPr lang="en-US" sz="14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6EA52591-E280-3710-4616-7BB781AA2BFF}"/>
              </a:ext>
            </a:extLst>
          </p:cNvPr>
          <p:cNvSpPr/>
          <p:nvPr/>
        </p:nvSpPr>
        <p:spPr>
          <a:xfrm>
            <a:off x="897791" y="46226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B1E04B65-5595-A015-506E-1D9B5F60AF6C}"/>
              </a:ext>
            </a:extLst>
          </p:cNvPr>
          <p:cNvSpPr/>
          <p:nvPr/>
        </p:nvSpPr>
        <p:spPr>
          <a:xfrm>
            <a:off x="1117247" y="458603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and Results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5D6217-973F-CFBC-1F05-6D3270AD1DE6}"/>
              </a:ext>
            </a:extLst>
          </p:cNvPr>
          <p:cNvSpPr txBox="1"/>
          <p:nvPr/>
        </p:nvSpPr>
        <p:spPr>
          <a:xfrm>
            <a:off x="1066546" y="452802"/>
            <a:ext cx="100589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Postoperative Acute Kidney Injury (PO-AKI)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FD4698-3E22-3C62-B04A-E2249ED5B46A}"/>
              </a:ext>
            </a:extLst>
          </p:cNvPr>
          <p:cNvSpPr txBox="1"/>
          <p:nvPr/>
        </p:nvSpPr>
        <p:spPr>
          <a:xfrm>
            <a:off x="802105" y="1363581"/>
            <a:ext cx="1081237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Sentinel Surgical Complication (i.e., can be avoided by following proper procedures and techniques)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Associated with adverse outcomes: longer hospital length of stay, ICU admission, prolonged mechanical ventilation, tracheostomy, discharge to nursing facility, and higher 30-day readmission rates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PO-AKI is often low-grade (stage 1-2 AKI) but is identified by a lagging biomarker after significant kidney injury may have already occurred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Occurrence: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Cardiac Surgery: 20%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Vascular Surgery: 20-70%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CC9F15-54D8-F70B-2400-09CA54DB69C6}"/>
              </a:ext>
            </a:extLst>
          </p:cNvPr>
          <p:cNvSpPr txBox="1"/>
          <p:nvPr/>
        </p:nvSpPr>
        <p:spPr>
          <a:xfrm>
            <a:off x="6423050" y="6384394"/>
            <a:ext cx="5687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Naomi et al. 2022. DOI: 10.2215/CJN.16541221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1FB512-9EC0-DBCC-D366-773030C61441}"/>
              </a:ext>
            </a:extLst>
          </p:cNvPr>
          <p:cNvSpPr txBox="1"/>
          <p:nvPr/>
        </p:nvSpPr>
        <p:spPr>
          <a:xfrm>
            <a:off x="162608" y="6476727"/>
            <a:ext cx="5606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Acronyms: PO = Postoperative, AKI = Acute Kidney Injury, ICU = Intensive Care Unit</a:t>
            </a:r>
          </a:p>
        </p:txBody>
      </p:sp>
    </p:spTree>
    <p:extLst>
      <p:ext uri="{BB962C8B-B14F-4D97-AF65-F5344CB8AC3E}">
        <p14:creationId xmlns:p14="http://schemas.microsoft.com/office/powerpoint/2010/main" val="2083663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626C9-0479-3B39-6774-37D56480D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182102-54F8-B7CA-D5BB-33536723EA10}"/>
              </a:ext>
            </a:extLst>
          </p:cNvPr>
          <p:cNvSpPr txBox="1"/>
          <p:nvPr/>
        </p:nvSpPr>
        <p:spPr>
          <a:xfrm>
            <a:off x="1525395" y="71319"/>
            <a:ext cx="95034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KDIGO Definition and Classification of AKI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E6E06-94D0-4309-6192-17278EF5FC0F}"/>
              </a:ext>
            </a:extLst>
          </p:cNvPr>
          <p:cNvSpPr txBox="1"/>
          <p:nvPr/>
        </p:nvSpPr>
        <p:spPr>
          <a:xfrm>
            <a:off x="3218646" y="6550710"/>
            <a:ext cx="89733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KDIGO Clinical Practice Guideline for Acute Kidney Injury. Official Journal of the International Society of Nephrology. 2012. 2(1)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7E5A92-5136-6BB0-2A66-1196B202D9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46"/>
          <a:stretch>
            <a:fillRect/>
          </a:stretch>
        </p:blipFill>
        <p:spPr>
          <a:xfrm>
            <a:off x="1466438" y="806065"/>
            <a:ext cx="9502964" cy="55690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190833-A98B-1422-60C6-22D0B52A28C9}"/>
              </a:ext>
            </a:extLst>
          </p:cNvPr>
          <p:cNvSpPr txBox="1"/>
          <p:nvPr/>
        </p:nvSpPr>
        <p:spPr>
          <a:xfrm>
            <a:off x="294968" y="6158276"/>
            <a:ext cx="2408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Acronyms: KDIGO = Kidney Disease: Improving Global Outcomes</a:t>
            </a:r>
          </a:p>
        </p:txBody>
      </p:sp>
    </p:spTree>
    <p:extLst>
      <p:ext uri="{BB962C8B-B14F-4D97-AF65-F5344CB8AC3E}">
        <p14:creationId xmlns:p14="http://schemas.microsoft.com/office/powerpoint/2010/main" val="1891780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451E9-F354-F44B-4F25-79EE7F394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5BCEE7-5CED-39FA-2290-5524CAE642FD}"/>
              </a:ext>
            </a:extLst>
          </p:cNvPr>
          <p:cNvSpPr txBox="1"/>
          <p:nvPr/>
        </p:nvSpPr>
        <p:spPr>
          <a:xfrm>
            <a:off x="192506" y="298566"/>
            <a:ext cx="36896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Causes of Postoperative AKI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1DB346-758B-E387-A441-9CD1A401050C}"/>
              </a:ext>
            </a:extLst>
          </p:cNvPr>
          <p:cNvSpPr txBox="1"/>
          <p:nvPr/>
        </p:nvSpPr>
        <p:spPr>
          <a:xfrm>
            <a:off x="192505" y="6396335"/>
            <a:ext cx="4067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Sources: 1) Naomi et al. 2022. DOI: 10.2215/CJN.16541221 2) Wang et al. 2010. </a:t>
            </a:r>
            <a:r>
              <a:rPr lang="en-US" sz="1200" dirty="0" err="1"/>
              <a:t>doi</a:t>
            </a:r>
            <a:r>
              <a:rPr lang="en-US" sz="1200" dirty="0"/>
              <a:t>: 10.3945/ajcn.2010.29885 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BBA699E-40A8-70CE-0F00-16A189420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3456" y="104274"/>
            <a:ext cx="7718544" cy="675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DDA110-DFE3-18B2-1DFE-849D2219B66B}"/>
              </a:ext>
            </a:extLst>
          </p:cNvPr>
          <p:cNvSpPr txBox="1"/>
          <p:nvPr/>
        </p:nvSpPr>
        <p:spPr>
          <a:xfrm>
            <a:off x="94488" y="2402970"/>
            <a:ext cx="41656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Kidneys are among the most metabolically active organs in the body: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Kidney: 426 kcal/kg/day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Heart: 426 kcal/kg/day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Brain: 233 kcal/kg/day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Liver: 194 kcal/kg/day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Sk. Muscle: 12.6 kcal/kg/day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Adipose: 4.4 kcal/kg/day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89D9E2-3038-7D91-B19B-70D5F7CA3E52}"/>
              </a:ext>
            </a:extLst>
          </p:cNvPr>
          <p:cNvSpPr txBox="1"/>
          <p:nvPr/>
        </p:nvSpPr>
        <p:spPr>
          <a:xfrm>
            <a:off x="192506" y="5917134"/>
            <a:ext cx="25620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Acronyms: AKI = Acute Kidney Injury</a:t>
            </a:r>
          </a:p>
        </p:txBody>
      </p:sp>
    </p:spTree>
    <p:extLst>
      <p:ext uri="{BB962C8B-B14F-4D97-AF65-F5344CB8AC3E}">
        <p14:creationId xmlns:p14="http://schemas.microsoft.com/office/powerpoint/2010/main" val="203849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B128F-73DC-930D-C531-DBAEA577F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8FF3C4-50F5-40EC-1983-5FAEC95E949D}"/>
              </a:ext>
            </a:extLst>
          </p:cNvPr>
          <p:cNvSpPr txBox="1"/>
          <p:nvPr/>
        </p:nvSpPr>
        <p:spPr>
          <a:xfrm>
            <a:off x="746927" y="476024"/>
            <a:ext cx="10922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Literature Search: Association of PO-AKI and Hypotension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5361BC-806E-53A8-F57E-0F673DBF7E73}"/>
              </a:ext>
            </a:extLst>
          </p:cNvPr>
          <p:cNvSpPr txBox="1"/>
          <p:nvPr/>
        </p:nvSpPr>
        <p:spPr>
          <a:xfrm>
            <a:off x="802104" y="1206265"/>
            <a:ext cx="1081237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Search Engine: Google Scholar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Search Term: “mean arterial pressure postoperative acute kidney injury”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/>
              <a:t>24 </a:t>
            </a:r>
            <a:r>
              <a:rPr lang="en-US" sz="2700" dirty="0"/>
              <a:t>observation, retrospective and intervention studies selected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2 meta-analyses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Findings: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700" dirty="0"/>
              <a:t>Perioperative hypotension is associated with PO-AKI (MAP &lt;65 mmHg for over 5 min). Some studies suggest maintaining perioperative MAP of 70 – 95 mmHg for hypertensive patients.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700" dirty="0"/>
              <a:t>Postoperative hypotension is often associated with increased incidence of PO-AKI. Some studies suggest maintaining a postoperative MAP of &gt;75 – 90 mmHg.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354170-51A8-C799-1FFA-00FD3C239C03}"/>
              </a:ext>
            </a:extLst>
          </p:cNvPr>
          <p:cNvSpPr txBox="1"/>
          <p:nvPr/>
        </p:nvSpPr>
        <p:spPr>
          <a:xfrm>
            <a:off x="162608" y="6476727"/>
            <a:ext cx="59007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Acronyms: PO = Postoperative, AKI = Acute Kidney Injury, MAP = Mean Arterial Pressure</a:t>
            </a:r>
          </a:p>
        </p:txBody>
      </p:sp>
    </p:spTree>
    <p:extLst>
      <p:ext uri="{BB962C8B-B14F-4D97-AF65-F5344CB8AC3E}">
        <p14:creationId xmlns:p14="http://schemas.microsoft.com/office/powerpoint/2010/main" val="3598848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MIMIC-IV in one slide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public critical care database for reproducible clinical analytics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is designed for a quick, classroom-friendly explanation of the dataset.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564026" cy="4251960"/>
          </a:xfrm>
          <a:prstGeom prst="roundRect">
            <a:avLst>
              <a:gd name="adj" fmla="val 2566"/>
            </a:avLst>
          </a:prstGeom>
          <a:solidFill>
            <a:srgbClr val="EAF2F8"/>
          </a:solidFill>
          <a:ln w="1270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564026" cy="384048"/>
          </a:xfrm>
          <a:prstGeom prst="roundRect">
            <a:avLst>
              <a:gd name="adj" fmla="val 23810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435608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" y="1847088"/>
            <a:ext cx="3326282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De-identified EHR data from Beth Israel Deaconess Medical Center. Includes admissions, ICU stays, labs, medications, procedures, notes, and outcomes.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13834" y="1371600"/>
            <a:ext cx="3564026" cy="4251960"/>
          </a:xfrm>
          <a:prstGeom prst="roundRect">
            <a:avLst>
              <a:gd name="adj" fmla="val 2566"/>
            </a:avLst>
          </a:prstGeom>
          <a:solidFill>
            <a:srgbClr val="F9FBFC"/>
          </a:solidFill>
          <a:ln w="1270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13834" y="1371600"/>
            <a:ext cx="3564026" cy="384048"/>
          </a:xfrm>
          <a:prstGeom prst="roundRect">
            <a:avLst>
              <a:gd name="adj" fmla="val 2381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05274" y="1435608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32706" y="1847088"/>
            <a:ext cx="3326282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epidemiology, risk modeling, ICU outcomes research, and training in data wrangling and feature engineering.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79029" y="1371600"/>
            <a:ext cx="3564026" cy="4251960"/>
          </a:xfrm>
          <a:prstGeom prst="roundRect">
            <a:avLst>
              <a:gd name="adj" fmla="val 2566"/>
            </a:avLst>
          </a:prstGeom>
          <a:solidFill>
            <a:srgbClr val="F4F7FA"/>
          </a:solidFill>
          <a:ln w="1270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79029" y="1371600"/>
            <a:ext cx="3564026" cy="384048"/>
          </a:xfrm>
          <a:prstGeom prst="roundRect">
            <a:avLst>
              <a:gd name="adj" fmla="val 23810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70469" y="1435608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access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97901" y="1847088"/>
            <a:ext cx="3326282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Credentialed access through PhysioNet with local loading into PostgreSQL, or cloud querying through BigQuery.</a:t>
            </a:r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F42FC7-8B4D-93CE-46C1-20495CBC94A5}"/>
              </a:ext>
            </a:extLst>
          </p:cNvPr>
          <p:cNvSpPr txBox="1"/>
          <p:nvPr/>
        </p:nvSpPr>
        <p:spPr>
          <a:xfrm>
            <a:off x="93782" y="6381172"/>
            <a:ext cx="80767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Acronyms: MIMIC = Medical Information Mart for Intensive Care, EHR = Electron Health Record, ICU = Intensive Care Unit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Getting MIMIC-IV into a working environment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common workflows: local PostgreSQL or hosted BigQuery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choice mostly changes where the SQL runs, not the underlying logic.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564026" cy="4297680"/>
          </a:xfrm>
          <a:prstGeom prst="roundRect">
            <a:avLst>
              <a:gd name="adj" fmla="val 2566"/>
            </a:avLst>
          </a:prstGeom>
          <a:solidFill>
            <a:srgbClr val="EAF2F8"/>
          </a:solidFill>
          <a:ln w="1270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564026" cy="384048"/>
          </a:xfrm>
          <a:prstGeom prst="roundRect">
            <a:avLst>
              <a:gd name="adj" fmla="val 23810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435608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" y="1847088"/>
            <a:ext cx="3326282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PhysioNet credentialing, download the CSV/gzip files, create the database and schema, then load tables with the provided DDL/COPY workflow.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13834" y="1371600"/>
            <a:ext cx="3564026" cy="4297680"/>
          </a:xfrm>
          <a:prstGeom prst="roundRect">
            <a:avLst>
              <a:gd name="adj" fmla="val 2566"/>
            </a:avLst>
          </a:prstGeom>
          <a:solidFill>
            <a:srgbClr val="F9FBFC"/>
          </a:solidFill>
          <a:ln w="1270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13834" y="1371600"/>
            <a:ext cx="3564026" cy="384048"/>
          </a:xfrm>
          <a:prstGeom prst="roundRect">
            <a:avLst>
              <a:gd name="adj" fmla="val 2381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05274" y="1435608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BigQuery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32706" y="1847088"/>
            <a:ext cx="3326282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the hosted cloud version directly with SQL in the browser or a client. Useful for rapid prototyping and large joins.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79029" y="1371600"/>
            <a:ext cx="3564026" cy="4297680"/>
          </a:xfrm>
          <a:prstGeom prst="roundRect">
            <a:avLst>
              <a:gd name="adj" fmla="val 2566"/>
            </a:avLst>
          </a:prstGeom>
          <a:solidFill>
            <a:srgbClr val="F4F7FA"/>
          </a:solidFill>
          <a:ln w="1270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79029" y="1371600"/>
            <a:ext cx="3564026" cy="384048"/>
          </a:xfrm>
          <a:prstGeom prst="roundRect">
            <a:avLst>
              <a:gd name="adj" fmla="val 23810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70469" y="1435608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Tradeoff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97901" y="1847088"/>
            <a:ext cx="3326282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gives local control and easy indexing; BigQuery reduces setup time and scales well for exploration.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1"/>
            <a:ext cx="12191695" cy="43880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19776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A. Original vascular surgery cohort select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script begins with the vascular surgery admissions that define the study backbone.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cohort is anchored at the patient-admission level, with subject_id and hadm_id retained for every downstream join.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table is the starting population for all later feature and outcome summaries.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SQL filters MIMIC-IV records to admissions that meet your vascular surgery inclusion logic.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Those records are then standardized into one backbone table so later queries can reuse the same admissions.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cohort is intentionally wide at this stage: it captures the study population before any analytic features are added.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cohort backbone table, stored as mimiciv_icu_vascular_aki.Patients.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admission, ready for table-by-table enrichment.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later summary tables join back to this backbone using hadm_id.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2A. complex_aortic_summary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mimiciv_hosp.diagnoses_icd supplies ICD-9 / ICD-10 diagnosis codes.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mimiciv_note.discharge supplies free-text discharge summaries.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mimiciv_icu_vascular_aki.Patients supplies the cohort backbone and hadm_id anchor.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code searches diagnoses for complex aortic ICD patterns and collapses them to one row per admission.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also scans discharge notes for keywords such as suprarenal clamp, supraceliac, juxtarenal, thoracoabdominal, and pararenal.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ICD-based and note-based signals are aggregated, then joined back to the cohort.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subject_id and hadm_id are carried forward for alignment.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complex_aortic = 1 if either the ICD search or note search is positive.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phenotype-style binary flag rather than a raw event count.</a:t>
            </a:r>
            <a:endParaRPr lang="en-US" sz="13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2B. aki_time_windows_summary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mimiciv_icu.icustays provides the ICU start time used as the anchor.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mimiciv_hosp.labevents provides creatinine measurements (itemid 50912).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Patients cohort supplies the admissions being evaluated.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creatinine is taken from the pre-ICU / admission window, using values from 7 days before ICU start through 24 hours after.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maximum creatinine is then calculated from 24 hours before ICU start through 7 days after.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window is checked against AKI thresholds to determine whether criteria are met and which stage is reached.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aki_24h_flag, aki_72h_flag, and aki_7day_flag indicate whether AKI occurred in each window.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max_aki_stage_7day stores the worst AKI stage over 7 days.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table converts repeated creatinine measurements into a compact outcome summary.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2C. map_twa_summary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mimiciv_icu.chartevents provides bedside vital-sign measurements.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mimiciv_icu.icustays defines the ICU anchor time.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analysis keeps only physiologically plausible MAP and heart-rate values.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comes from itemids 220052, 220181, and 225312; HR comes from itemid 220045.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script computes time gaps between consecutive measurements with LEAD(charttime).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Those gaps are used as weights for a 24-hour time-weighted average.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map_twa_24h is the 24-hour time-weighted average MAP.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hours_map_below_65 counts time spent with MAP &lt; 65 mmHg.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hours_hr_above_90 counts time spent with HR &gt; 90 bpm.</a:t>
            </a:r>
            <a:endParaRPr lang="en-US" sz="13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2D. hemo_pressor_summary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mimiciv_icu.chartevents provides heart-rate measurements.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mimiciv_icu.inputevents provides vasopressor administration records.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Patients cohort and ICU start time define the 24-hour window.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heart-rate value in the first 24 hours is taken as the admission heart rate.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script sums infusion duration for selected pressor itemids and captures a dose proxy.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pressor exposure inside the window sets the vasopressor flag.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hr_admit captures the first ICU heart rate in the window.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vasopressor_flag shows whether pressors were used.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pressor_hours and max_pressor_dose summarize exposure intensity.</a:t>
            </a:r>
            <a:endParaRPr lang="en-US" sz="13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2E. renal_fluid_summary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mimiciv_icu.outputevents provides urine output.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mimiciv_icu.inputevents provides administered fluids.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mimiciv_icu.icustays supplies the ICU start time for the first 24 hours.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Urine output is summed over the first 24 hours after ICU admission.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Fluid intake is summed over the same period using positive input amounts only.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Fluid balance is calculated as intake minus urine output.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urine_output_24h, total_fluid_intake_24h, and fluid_balance_24h summarize the first ICU day.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table turns bedside fluid events into one admission-level summary row.</a:t>
            </a:r>
            <a:endParaRPr lang="en-US" sz="13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2F. lab_vital_dragnet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mimiciv_hosp.labevents supplies laboratory results.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ICU start time is again used as the anchor point.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cohort table supplies the admissions being evaluated.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script looks from 6 hours before ICU start to 24 hours after ICU start.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groups by hadm_id and summarizes each lab with either an average or a maximum.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 small set of high-value labs is retained to keep the final table compact.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bun_mean, wbc_mean, platelets_mean, and lactate_max are created.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table adds a focused early-lab snapshot to each admission.</a:t>
            </a:r>
            <a:endParaRPr lang="en-US" sz="13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2G. safety_survival_summary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mimiciv_hosp.labevents provides troponin and hemoglobin.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mimiciv_icu.inputevents provides transfusion-related events.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mimiciv_hosp.admissions and mimiciv_hosp.patients provide mortality and date-of-death information.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Troponin is checked over 72 hours and 7 days after ICU start to detect myocardial injury.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Hemoglobin minimum is taken within the first 24 hours.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Transfusion events are flagged in the first 24 hours, and mortality timing is derived from admission/death timestamps.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myocardial_injury_72h and myocardial_injury_7day capture injury windows.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min_hgb_24h and transfusion_24h capture early blood-related risk.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hospital_expire_flag, date_of_death, and time_to_death_days summarize survival.</a:t>
            </a:r>
            <a:endParaRPr lang="en-US" sz="13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2H. comorbidity_summary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mimiciv_hosp.diagnoses_icd provides ICD-9 and ICD-10 diagnosis codes.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mimiciv_derived.charlson provides the precomputed Charlson comorbidity index.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cohort table supplies the hadm_id values to join on.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Diagnosis codes are translated into binary comorbidity indicators using pattern matching.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flags cover heart failure, peripheral vascular disease, complicated hypertension, COPD, diabetes, renal disease, liver disease, obesity, and coagulation disorders.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flags are then joined with the Charlson score to provide a compact baseline severity summary.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charlson_score plus binary comorbidity flags are created.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table gives each admission a baseline severity profile.</a:t>
            </a:r>
            <a:endParaRPr lang="en-US" sz="13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2I. cardiac_meds_summary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mimiciv_hosp.prescriptions provides medication names.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cohort table provides the admissions to scan.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Medication strings are matched with ILIKE so generic and brand variants are both captured.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script scans prescription text for representative drugs in each cardiovascular class.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class becomes a binary flag at the admission level.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Insulin is included as an additional diabetes-management marker.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beta_blocker, ace_arb, statin, antiplatelet, and insulin_flag are created.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table summarizes medication exposure relevant to vascular and renal risk.</a:t>
            </a:r>
            <a:endParaRPr lang="en-US" sz="13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2K. rrt_summary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mimiciv_icu.procedureevents provides procedure records.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mimiciv_icu.icustays provides the ICU start anchor.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cohort table provides admissions to evaluate.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script looks for procedure itemids associated with dialysis / renal replacement therapy.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procedures that occur after ICU start are counted.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admission is flagged if any qualifying procedure appears.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rrt_flag is created as a binary indicator.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table marks renal replacement therapy exposure during the ICU stay.</a:t>
            </a:r>
            <a:endParaRPr lang="en-US" sz="13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master_vascular_cardiorenal_raw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table is built by left-joining every summary table back to the cohort backbone.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base table is mimiciv_icu_vascular_aki.Patients.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summary table is joined on hadm_id so the cohort stays aligned at the admission level.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13834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3834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5274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41850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joins keep the cohort rows even when some summary data are missing.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script combines demographics, hemodynamics, labs, medications, comorbidities, AKI, myocardial injury, RRT, and mortality.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is one final row per admission.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079029" y="960120"/>
            <a:ext cx="3564026" cy="5166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524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79029" y="960120"/>
            <a:ext cx="3564026" cy="411480"/>
          </a:xfrm>
          <a:prstGeom prst="roundRect">
            <a:avLst>
              <a:gd name="adj" fmla="val 177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0469" y="1033272"/>
            <a:ext cx="33811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7045" y="1490472"/>
            <a:ext cx="330799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analysis-ready master cohort table.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row is a patient admission with engineered features and outcomes.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table you would use for statistical analysis or modeling.</a:t>
            </a:r>
            <a:endParaRPr lang="en-US" sz="13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EA6"/>
          </a:solidFill>
          <a:ln w="12700">
            <a:solidFill>
              <a:srgbClr val="2F6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SQL script turns raw MIMIC-IV events into a single admission-level cohort.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10698480" cy="3566160"/>
          </a:xfrm>
          <a:prstGeom prst="roundRect">
            <a:avLst>
              <a:gd name="adj" fmla="val 2051"/>
            </a:avLst>
          </a:prstGeom>
          <a:solidFill>
            <a:srgbClr val="F8FBFD"/>
          </a:solidFill>
          <a:ln w="1270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Select the vascular surgery cohort.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7157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Build focused summary tables around ICU admission time.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37413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Convert repeated measurements into binary flags and compact summaries.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403250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Left join everything into one master cardiorenal cohort.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562356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design choice is the admission-level join on hadm_id.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Postoperative Hemodynamic Risk Profiling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7A2B8"/>
                </a:solidFill>
                <a:latin typeface="Calibri"/>
              </a:defRPr>
            </a:pPr>
            <a:r>
              <a:t>AKI &amp; Myocardial Injury in Vascular Surgery Patients from MIMIC-IV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474720"/>
            <a:ext cx="3047695" cy="2743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BBCC"/>
                </a:solidFill>
                <a:latin typeface="Calibri"/>
              </a:defRPr>
            </a:pPr>
            <a:r>
              <a:t>Data Wrangling Semester Project — Final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5029200"/>
            <a:ext cx="2286000" cy="822960"/>
          </a:xfrm>
          <a:prstGeom prst="rect">
            <a:avLst/>
          </a:prstGeom>
          <a:solidFill>
            <a:srgbClr val="223A5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5074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7A2B8"/>
                </a:solidFill>
                <a:latin typeface="Calibri"/>
              </a:defRPr>
            </a:pPr>
            <a:r>
              <a:t>883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40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AABB"/>
                </a:solidFill>
                <a:latin typeface="Calibri"/>
              </a:defRPr>
            </a:pPr>
            <a:r>
              <a:t>Patients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5029200"/>
            <a:ext cx="2286000" cy="822960"/>
          </a:xfrm>
          <a:prstGeom prst="rect">
            <a:avLst/>
          </a:prstGeom>
          <a:solidFill>
            <a:srgbClr val="223A5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5074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7A2B8"/>
                </a:solidFill>
                <a:latin typeface="Calibri"/>
              </a:defRPr>
            </a:pPr>
            <a:r>
              <a:t>115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5440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AABB"/>
                </a:solidFill>
                <a:latin typeface="Calibri"/>
              </a:defRPr>
            </a:pPr>
            <a:r>
              <a:t>Variables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5029200"/>
            <a:ext cx="2286000" cy="822960"/>
          </a:xfrm>
          <a:prstGeom prst="rect">
            <a:avLst/>
          </a:prstGeom>
          <a:solidFill>
            <a:srgbClr val="223A5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5074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6C00"/>
                </a:solidFill>
                <a:latin typeface="Calibri"/>
              </a:defRPr>
            </a:pPr>
            <a:r>
              <a:t>37.4%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440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AABB"/>
                </a:solidFill>
                <a:latin typeface="Calibri"/>
              </a:defRPr>
            </a:pPr>
            <a:r>
              <a:t>7-Day AKI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Cohort Demographics &amp;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CC"/>
                </a:solidFill>
                <a:latin typeface="Calibri"/>
              </a:defRPr>
            </a:pPr>
            <a:r>
              <a:t>883 vascular surgery patients from MIMIC-IV admitted to ICU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Calibri"/>
              </a:defRPr>
            </a:pPr>
            <a:r>
              <a:t>Patient Demographics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Age: 66.6 ± 13.4 years (range: 19–91)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Male: 530 (60.0%) | Female: 353 (40.0%)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White: 619 (70.1%)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Black/African American: 57 (6.5%)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Hispanic/Latino: 19 (2.2%)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Other / Unknown: 188 (21.3%)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46304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Calibri"/>
              </a:defRPr>
            </a:pPr>
            <a:r>
              <a:t>Surgical Procedures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965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Endovascular (ENDO): 459 (52.0%)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86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Open Surgical (OPEN): 424 (48.0%)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6060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0" y="292607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Complex Aortic: 76 (8.6%)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246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Suprarenal Clamp: 67 (7.6%)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566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Complex Endo: 9 (1.0%)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46304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5F8A"/>
                </a:solidFill>
                <a:latin typeface="Calibri"/>
              </a:defRPr>
            </a:pPr>
            <a:r>
              <a:t>Comorbidity Burden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965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Charlson Score: 5.7 ± 2.5 (median 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286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Elixhauser Score: 10.0 ± 8.7 (median 9)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6060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292607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Hypertension: 53.6% uncomplicated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246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Arrhythmias: 32.3%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566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CKD History: 21.3%</a:t>
            </a:r>
          </a:p>
        </p:txBody>
      </p:sp>
      <p:pic>
        <p:nvPicPr>
          <p:cNvPr id="30" name="Picture 29" descr="comorb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297680"/>
            <a:ext cx="11430000" cy="23317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Baseline Creatinine Stratification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CC"/>
                </a:solidFill>
                <a:latin typeface="Calibri"/>
              </a:defRPr>
            </a:pPr>
            <a:r>
              <a:t>Hierarchical strategy to address missing pre-operative creatinine</a:t>
            </a:r>
          </a:p>
        </p:txBody>
      </p:sp>
      <p:pic>
        <p:nvPicPr>
          <p:cNvPr id="6" name="Picture 5" descr="bas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Quality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CC"/>
                </a:solidFill>
                <a:latin typeface="Calibri"/>
              </a:defRPr>
            </a:pPr>
            <a:r>
              <a:t>Completeness, plausibility, and contextual validation per HIDQF framework</a:t>
            </a:r>
          </a:p>
        </p:txBody>
      </p:sp>
      <p:pic>
        <p:nvPicPr>
          <p:cNvPr id="6" name="Picture 5" descr="missing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7724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0" y="1371600"/>
            <a:ext cx="34747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0" y="1463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F8A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783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Core hemodynamic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029967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(MAP, HR, SpO2) are &gt;99% 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27685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0" y="252374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Baseline creatinine: 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77063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complete (by design)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0175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0" y="326440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C3545"/>
                </a:solidFill>
                <a:latin typeface="Calibri"/>
              </a:defRPr>
            </a:pPr>
            <a:r>
              <a:t>Highly missing (&gt;50%):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51129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Albumin (76.4%)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75818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Fibrinogen (71.6%)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00507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AST/ALT/Bilirubin (~60%)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2519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0" y="449884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Moderately missing: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74573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Lactate (38.7%)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99262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PT/INR (10.1%)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523951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0" y="54864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C3545"/>
                </a:solidFill>
                <a:latin typeface="Calibri"/>
              </a:defRPr>
            </a:pPr>
            <a:r>
              <a:t>Biological artifact filter: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573328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MAP &lt;20 or &gt;300 removed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Hemodynamic Exposure: Mean Arterial Pressure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CC"/>
                </a:solidFill>
                <a:latin typeface="Calibri"/>
              </a:defRPr>
            </a:pPr>
            <a:r>
              <a:t>Time-weighted average MAP over first 24 hours of ICU stay</a:t>
            </a:r>
          </a:p>
        </p:txBody>
      </p:sp>
      <p:pic>
        <p:nvPicPr>
          <p:cNvPr id="6" name="Picture 5" descr="map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12880" cy="3840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5394960"/>
            <a:ext cx="54864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5F8A"/>
                </a:solidFill>
                <a:latin typeface="Calibri"/>
              </a:defRPr>
            </a:pPr>
            <a:r>
              <a:t>MAP Summary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064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TWA MAP: 78.8 +/- 10.9 mmHg  |  Min MAP: 60.5 +/- 11.1 mmHg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Vasopressor use: 281 (31.8%)  |  Mean pressor duration: 14.6 hours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5394960"/>
            <a:ext cx="56692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5486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3545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806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60.6% of patients maintained MAP &gt;= 75 mmHg. Only 6.8% had sustained shock (TWA MAP &lt; 65). The standard (65-74.9) group represents a potential at-risk population (32.6%).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Primary Outcome: Acute Kidney Injury (KDIGO)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CC"/>
                </a:solidFill>
                <a:latin typeface="Calibri"/>
              </a:defRPr>
            </a:pPr>
            <a:r>
              <a:t>AKI within 7 days of surgery using dynamic observation windows</a:t>
            </a:r>
          </a:p>
        </p:txBody>
      </p:sp>
      <p:pic>
        <p:nvPicPr>
          <p:cNvPr id="6" name="Picture 5" descr="aki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12880" cy="3840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5394960"/>
            <a:ext cx="3657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5F8A"/>
                </a:solidFill>
                <a:latin typeface="Calibri"/>
              </a:defRPr>
            </a:pPr>
            <a:r>
              <a:t>MAP-AKI Association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AKI+ patients had significantly lower TWA MAP (76.7 vs 80.1, p&lt;0.001). Higher baseline Cr strongly associated: 1.26 vs 1.01 (p&lt;0.001).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5394960"/>
            <a:ext cx="3657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54864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5F8A"/>
                </a:solidFill>
                <a:latin typeface="Calibri"/>
              </a:defRPr>
            </a:pPr>
            <a:r>
              <a:t>Comorbidity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5760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CKD: 55.3% vs 32.5% (p&lt;0.001)</a:t>
            </a:r>
            <a:br/>
            <a:r>
              <a:t>CHF: 50.3% vs 33.8% (p&lt;0.001)</a:t>
            </a:r>
            <a:br/>
            <a:r>
              <a:t>HTN (comp): 52.4% vs 32.6% (p&lt;0.001)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5394960"/>
            <a:ext cx="3657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54864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3545"/>
                </a:solidFill>
                <a:latin typeface="Calibri"/>
              </a:defRPr>
            </a:pPr>
            <a:r>
              <a:t>Clinical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5760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AKI+ mortality: 13.6% vs 4.7% (p&lt;0.001)</a:t>
            </a:r>
            <a:br/>
            <a:r>
              <a:t>AKI+ ICU LOS: 6.5 vs 3.7 days (p&lt;0.001)</a:t>
            </a:r>
            <a:br/>
            <a:r>
              <a:t>37.4% overall 7-day AKI incidence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Secondary Outcomes: Cardiac Injury, Mortality &amp; Resource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CC"/>
                </a:solidFill>
                <a:latin typeface="Calibri"/>
              </a:defRPr>
            </a:pPr>
            <a:r>
              <a:t>Troponin &gt; 0.04 ng/mL defining myocardial injury</a:t>
            </a:r>
          </a:p>
        </p:txBody>
      </p:sp>
      <p:pic>
        <p:nvPicPr>
          <p:cNvPr id="6" name="Picture 5" descr="secondary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12880" cy="3840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5394960"/>
            <a:ext cx="11430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5F8A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In-hospital mortality: 8.0% (n=71).  Nearly 1 in 5 patients (19.8%) experienced myocardial injury within 7 days.  AKI patients had 76% longer ICU stays (6.5 vs 3.7 days) and 2.9x higher mortality (13.6% vs 4.7%).  50.1% of patients discharged to home or home health care; 19.5% required extended care (SNF/LTAC).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Surgical Approach Comparison: Open vs. Endovascular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CC"/>
                </a:solidFill>
                <a:latin typeface="Calibri"/>
              </a:defRPr>
            </a:pPr>
            <a:r>
              <a:t>Head-to-head comparison of perioperative profiles</a:t>
            </a:r>
          </a:p>
        </p:txBody>
      </p:sp>
      <p:pic>
        <p:nvPicPr>
          <p:cNvPr id="6" name="Picture 5" descr="open_vs_e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12880" cy="365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5212080"/>
            <a:ext cx="54864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5303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5F8A"/>
                </a:solidFill>
                <a:latin typeface="Calibri"/>
              </a:defRPr>
            </a:pPr>
            <a:r>
              <a:t>Key Differences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235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OPEN: Higher AKI rate (40.6% vs 34.4%, p=0.07), more vasopressor use (35.8% vs 28.1%), higher transfusion (39.6% vs 30.7%).  Older patients (68.7 vs 64.7 yrs). Despite more complex procedures, shorter hospital LOS.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5212080"/>
            <a:ext cx="56692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Notable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56235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ENDO patients had higher myocardial injury rates (22.0% vs 17.5%) and longer hospital stays (14.2 vs 11.1 days), potentially reflecting a sicker baseline population requiring emergent endovascular repair (e.g., ruptured AAA).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Integrated Risk Landscape: MAP, AKI &amp; Cardiac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CC"/>
                </a:solidFill>
                <a:latin typeface="Calibri"/>
              </a:defRPr>
            </a:pPr>
            <a:r>
              <a:t>Multi-dimensional view of hemodynamic exposure and organ injury</a:t>
            </a:r>
          </a:p>
        </p:txBody>
      </p:sp>
      <p:pic>
        <p:nvPicPr>
          <p:cNvPr id="6" name="Picture 5" descr="integrated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0415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Conclusions &amp;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2743200" cy="2743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669280" cy="5029200"/>
          </a:xfrm>
          <a:prstGeom prst="rect">
            <a:avLst/>
          </a:prstGeom>
          <a:solidFill>
            <a:srgbClr val="223A5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A2B8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79" y="1874519"/>
            <a:ext cx="4550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2B8"/>
                </a:solidFill>
                <a:latin typeface="Calibri"/>
              </a:defRPr>
            </a:pPr>
            <a:r>
              <a:rPr lang="en-US" dirty="0"/>
              <a:t>1</a:t>
            </a:r>
            <a:r>
              <a:rPr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800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37.4% of vascular surgery patients developed AKI within 7 days — a clinically significant burden.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32887"/>
            <a:ext cx="365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2B8"/>
                </a:solidFill>
                <a:latin typeface="Calibri"/>
              </a:defRPr>
            </a:pPr>
            <a:r>
              <a:rPr dirty="0"/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32887"/>
            <a:ext cx="4800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Lower MAP is associated with higher AKI risk: Standard (65-75 mmHg) group had the highest AKI rate at 46.5%.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91256"/>
            <a:ext cx="4550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2B8"/>
                </a:solidFill>
                <a:latin typeface="Calibri"/>
              </a:defRPr>
            </a:pPr>
            <a:r>
              <a:rPr dirty="0"/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91256"/>
            <a:ext cx="4800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Patients with AKI had 2.9x higher mortality (13.6% vs 4.7%, p&lt;0.001) and 76% longer ICU stays.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9624"/>
            <a:ext cx="365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2B8"/>
                </a:solidFill>
                <a:latin typeface="Calibri"/>
              </a:defRPr>
            </a:pPr>
            <a:r>
              <a:rPr dirty="0"/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49624"/>
            <a:ext cx="4800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19.8% experienced myocardial injury (troponin &gt; 0.04), with rates increasing across observation windows.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07991"/>
            <a:ext cx="365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2B8"/>
                </a:solidFill>
                <a:latin typeface="Calibri"/>
              </a:defRPr>
            </a:pPr>
            <a:r>
              <a:rPr dirty="0"/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07992"/>
            <a:ext cx="4800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Baseline CKD (55.3%), CHF (50.3%), and complicated HTN (52.4%) were the strongest comorbidity risk factors for AKI.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66358"/>
            <a:ext cx="365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2B8"/>
                </a:solidFill>
                <a:latin typeface="Calibri"/>
              </a:defRPr>
            </a:pPr>
            <a:r>
              <a:rPr dirty="0"/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59"/>
            <a:ext cx="4800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Hierarchical baseline creatinine strategy achieved 100% cohort coverage; AKI rates were consistent across priority classes (32-40%).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280160"/>
            <a:ext cx="5486400" cy="2218873"/>
          </a:xfrm>
          <a:prstGeom prst="rect">
            <a:avLst/>
          </a:prstGeom>
          <a:solidFill>
            <a:srgbClr val="223A5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A2B8"/>
                </a:solidFill>
                <a:latin typeface="Calibri"/>
              </a:defRPr>
            </a:pPr>
            <a:r>
              <a:t>Project Deliverables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87451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Robust Cohort Script: SQL pipeline isolating true vascular surgery patients (n=883 from MIMIC-IV)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37743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Cleaned Vitals Dataset: High-resolution MAP readings (1-5 min intervals), artifacts removed, gaps interpolated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992215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  Master Analytical Dataset: 883 patients x 115 variables, ready for modeling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999047"/>
            <a:ext cx="5486400" cy="2321229"/>
          </a:xfrm>
          <a:prstGeom prst="rect">
            <a:avLst/>
          </a:prstGeom>
          <a:solidFill>
            <a:srgbClr val="223A5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297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Calibri"/>
              </a:defRPr>
            </a:pPr>
            <a:r>
              <a:t>Future Directions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754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Propensity score matching using comorbidity matrix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1023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Multivariable logistic regression for AKI prediction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44982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Area Under Threshold (AUT) calculation for MAP &lt; 65 and &lt; 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79729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Subgroup analysis of complex aortic procedures (n=76)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10/9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217e0e7-539d-4563-b1bf-7c6dcf074f91}" enabled="0" method="" siteId="{5217e0e7-539d-4563-b1bf-7c6dcf074f9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3265</Words>
  <Application>Microsoft Office PowerPoint</Application>
  <PresentationFormat>Widescreen</PresentationFormat>
  <Paragraphs>339</Paragraphs>
  <Slides>30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MIMIC-IV Cohort Construction for Vascular Surgery</dc:title>
  <dc:subject>MIMIC-IV vascular surgery cohort construction</dc:subject>
  <dc:creator>OpenAI</dc:creator>
  <cp:lastModifiedBy>Joseph Dawson</cp:lastModifiedBy>
  <cp:revision>7</cp:revision>
  <dcterms:created xsi:type="dcterms:W3CDTF">2026-03-29T17:15:33Z</dcterms:created>
  <dcterms:modified xsi:type="dcterms:W3CDTF">2026-04-06T18:26:40Z</dcterms:modified>
</cp:coreProperties>
</file>